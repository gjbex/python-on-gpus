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7" r:id="rId2"/>
    <p:sldId id="355" r:id="rId3"/>
    <p:sldId id="357" r:id="rId4"/>
    <p:sldId id="353" r:id="rId5"/>
    <p:sldId id="348" r:id="rId6"/>
    <p:sldId id="359" r:id="rId7"/>
    <p:sldId id="363" r:id="rId8"/>
    <p:sldId id="364" r:id="rId9"/>
    <p:sldId id="365" r:id="rId10"/>
    <p:sldId id="360" r:id="rId11"/>
    <p:sldId id="366" r:id="rId12"/>
    <p:sldId id="361" r:id="rId13"/>
    <p:sldId id="362" r:id="rId14"/>
    <p:sldId id="358" r:id="rId15"/>
  </p:sldIdLst>
  <p:sldSz cx="12192000" cy="6858000"/>
  <p:notesSz cx="6858000" cy="9144000"/>
  <p:defaultTextStyle>
    <a:defPPr>
      <a:defRPr lang="LID4096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F9AB0FB-8713-41BE-A0ED-74E55CAC7DAA}" v="1" dt="2025-11-03T12:53:01.56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264" y="2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eert Jan Bex" userId="b602d378c858ceb4" providerId="LiveId" clId="{F3ED9F1C-8CBC-4187-814C-78BF1965CBEE}"/>
    <pc:docChg chg="custSel modSld">
      <pc:chgData name="Geert Jan Bex" userId="b602d378c858ceb4" providerId="LiveId" clId="{F3ED9F1C-8CBC-4187-814C-78BF1965CBEE}" dt="2025-11-03T12:53:25.071" v="5" actId="1076"/>
      <pc:docMkLst>
        <pc:docMk/>
      </pc:docMkLst>
      <pc:sldChg chg="addSp delSp modSp mod">
        <pc:chgData name="Geert Jan Bex" userId="b602d378c858ceb4" providerId="LiveId" clId="{F3ED9F1C-8CBC-4187-814C-78BF1965CBEE}" dt="2025-11-03T12:53:25.071" v="5" actId="1076"/>
        <pc:sldMkLst>
          <pc:docMk/>
          <pc:sldMk cId="695502024" sldId="257"/>
        </pc:sldMkLst>
        <pc:picChg chg="del">
          <ac:chgData name="Geert Jan Bex" userId="b602d378c858ceb4" providerId="LiveId" clId="{F3ED9F1C-8CBC-4187-814C-78BF1965CBEE}" dt="2025-11-03T12:53:05.492" v="3" actId="478"/>
          <ac:picMkLst>
            <pc:docMk/>
            <pc:sldMk cId="695502024" sldId="257"/>
            <ac:picMk id="5" creationId="{728BE29A-27A3-AC41-EAC1-DA88C291BB39}"/>
          </ac:picMkLst>
        </pc:picChg>
        <pc:picChg chg="add mod">
          <ac:chgData name="Geert Jan Bex" userId="b602d378c858ceb4" providerId="LiveId" clId="{F3ED9F1C-8CBC-4187-814C-78BF1965CBEE}" dt="2025-11-03T12:53:25.071" v="5" actId="1076"/>
          <ac:picMkLst>
            <pc:docMk/>
            <pc:sldMk cId="695502024" sldId="257"/>
            <ac:picMk id="9" creationId="{7CCF5E5B-78F2-5787-8B30-ABBD2AC6FAAA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C644CB-8FFF-4F59-B04D-9A1D2A5DB720}" type="datetimeFigureOut">
              <a:rPr lang="LID4096" smtClean="0"/>
              <a:t>12/16/2025</a:t>
            </a:fld>
            <a:endParaRPr lang="LID4096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LID4096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LID4096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B56DA1-3D99-4D19-9FEB-5AC9318F79C3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34188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0495A0-BC49-8BC7-1E67-C4B11669D3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900E4-3B6F-DF8D-A7E9-E87ACA05A7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E996B0-26F5-65C2-4CAF-CF343A6F45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DC7A01-813B-4B59-A1CC-F2D63921E46A}" type="datetime1">
              <a:rPr lang="LID4096" smtClean="0"/>
              <a:t>12/16/2025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FB615-95FB-1537-3191-B298AB7C31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8110DC-31BC-7B20-17FF-310635056F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1104467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8CFE0-2AC0-20ED-73B0-DFEFBB291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799922-9839-DC11-7C1D-ECADEB76E3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EE9A3D-7BDD-6410-DA6F-FEFCD2B18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5C8B8A-B2CE-4D78-88A4-476B2363B71E}" type="datetime1">
              <a:rPr lang="LID4096" smtClean="0"/>
              <a:t>12/16/2025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2A90FE-55A1-7B15-FD37-1BCA33A25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17E73B-D033-E0BF-6482-AD60F16D5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0070845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27239B-0275-2624-DB81-0073ABD42D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0DA172-6B82-EE0F-2416-127BEF6874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CA1B6-427A-6E7C-2AFA-D1EAEBCD95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DAB553-EE67-480E-BCE3-F64D7D51D294}" type="datetime1">
              <a:rPr lang="LID4096" smtClean="0"/>
              <a:t>12/16/2025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D4012E-CDF7-D679-B514-2CBC536D92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33E4-6D54-38AB-E9B4-2F51C2812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2692482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1B74F-C018-95A8-027A-3FF4642222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0DA37D-E9D6-3DCD-59DF-8AF936E5B5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DF64B-0394-0D71-631C-C785F759B35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08D6A4-379D-4A0E-2836-A41BD4B4F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270038-A599-4345-BE24-96A4E06BF8E3}" type="datetime1">
              <a:rPr lang="LID4096" smtClean="0"/>
              <a:t>12/16/2025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A53563-6A2D-1248-28AA-B6430C383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689FB0A-1310-A96A-1402-36A73BD65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715645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8611B-B5B0-EDFB-DE7F-36186440A0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9BDBDB-270E-7F86-324F-E5275BDCAC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3795170-0ECD-519A-4581-6EE194EA89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6B4056-2B27-C5AB-9540-BAFE7B9801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96B4B51-DA67-08D5-D585-5B636936571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81C0D61-D66B-66F0-9E7A-3BFE4642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A719F7-59BE-4FD1-8AC5-F7BFCCA290D7}" type="datetime1">
              <a:rPr lang="LID4096" smtClean="0"/>
              <a:t>12/16/2025</a:t>
            </a:fld>
            <a:endParaRPr lang="LID4096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2755B6F-9C13-8619-447D-D1CD0CD50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91414A0-6B8B-80E9-8AEB-4B2F55F32F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824082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E8F80-DF2C-02C9-F9CE-30DC0A66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7896BA8-AF4F-D72D-E98D-EA94266FCC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93A37-6A61-4F10-A100-9676ACB86039}" type="datetime1">
              <a:rPr lang="LID4096" smtClean="0"/>
              <a:t>12/16/2025</a:t>
            </a:fld>
            <a:endParaRPr lang="LID4096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3BF2A7-B010-2894-CC55-E9E63E8FB9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5EEC4B5-0741-2E3F-9A78-1C1E2C317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0149901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8C7838-3BAB-A1C5-8CAF-67D592D70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73F7F9-09CC-4C21-BDB8-90E2F1A013BD}" type="datetime1">
              <a:rPr lang="LID4096" smtClean="0"/>
              <a:t>12/16/2025</a:t>
            </a:fld>
            <a:endParaRPr lang="LID4096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52E5432-C801-692F-D338-B4F3500756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632DF7-8080-EE34-A83E-73135A5F1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797061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9AF1D7-A6D5-40B8-8824-60E6BBAD2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B2DC19-502C-19DB-E622-A545A647C9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BCAF2B-BDF8-72C4-8F9D-B0496957F9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4A98AF-1D79-A6B0-0497-39201954BD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166AE6-E2E5-4774-8434-34F2AD9BDDCE}" type="datetime1">
              <a:rPr lang="LID4096" smtClean="0"/>
              <a:t>12/16/2025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C7578A-D2CE-562B-B989-7A69F4C631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0916E7-788A-E49E-6DE8-14A3030F60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3298266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536504-E5EE-54C4-AE3A-30ED4173A7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7762CFE-64BD-F4E1-68C3-4B0B8476AA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LID4096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219B84-962A-EE60-E472-B2D374CDA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5B64168-CB93-11C4-544E-0B50C3480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95E2CCE-BBFE-4BEC-9002-70F26B158681}" type="datetime1">
              <a:rPr lang="LID4096" smtClean="0"/>
              <a:t>12/16/2025</a:t>
            </a:fld>
            <a:endParaRPr lang="LID4096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E69202-8A06-0672-D078-63EC07001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308DC89-2294-2048-F46C-FCDE78466F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9062859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9AE5A5-8380-474E-9718-DD7F07E6E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60302E5-27E2-6CFC-0B4D-DBC49A14CC9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B5411E-6EB2-31BA-A950-D24D1E98CE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2A7740-B6F2-4CC5-9AD0-B161B943DB10}" type="datetime1">
              <a:rPr lang="LID4096" smtClean="0"/>
              <a:t>12/16/2025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1D62B9-6717-ADE5-539C-1612B0F9F1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F9D565-4095-C862-96BC-DFBD266767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35464150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914EFB7-D5E7-4262-8070-ADB45C08CBA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406F322-17F0-953A-FA92-92DF253EF0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379FCB-D52F-974B-EE82-54AA1D31B4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94B025-8F26-4EDF-B991-413B82D6446E}" type="datetime1">
              <a:rPr lang="LID4096" smtClean="0"/>
              <a:t>12/16/2025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D135FE-97EA-1624-7547-B5ADF59F8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64BE-0E81-3731-6FFD-F28281E704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883357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823FA6B-4030-DE44-2291-F89E77FD7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LID4096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704096-10C6-4F5D-CB62-BDE1AE79CF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LID4096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AC22DB-A27F-EE11-EAEA-3A48DED31A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95C0FD-7BB7-48C9-86F3-9771767F1BC3}" type="datetime1">
              <a:rPr lang="LID4096" smtClean="0"/>
              <a:t>12/16/2025</a:t>
            </a:fld>
            <a:endParaRPr lang="LID4096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CD8504-FCB1-8947-3439-E301FE05DE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LID4096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D93685-9ED8-B0C8-595B-0FD6042162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7CE217-4467-4B8D-A735-B008FA7C4816}" type="slidenum">
              <a:rPr lang="LID4096" smtClean="0"/>
              <a:t>‹#›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490702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LID4096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gjbex.github.io/Python-on-GPUs/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sv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svg"/><Relationship Id="rId4" Type="http://schemas.openxmlformats.org/officeDocument/2006/relationships/image" Target="../media/image7.png"/><Relationship Id="rId9" Type="http://schemas.openxmlformats.org/officeDocument/2006/relationships/image" Target="../media/image12.sv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Python on GPUs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6" name="Picture 4">
            <a:extLst>
              <a:ext uri="{FF2B5EF4-FFF2-40B4-BE49-F238E27FC236}">
                <a16:creationId xmlns:a16="http://schemas.microsoft.com/office/drawing/2014/main" id="{D8EE7878-9270-9A2D-BCEA-6A2A8E1170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29"/>
          <a:stretch/>
        </p:blipFill>
        <p:spPr bwMode="auto">
          <a:xfrm>
            <a:off x="9529799" y="318938"/>
            <a:ext cx="1534493" cy="1422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9B74C2-95F1-B7A1-BE28-4F677A74F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</a:t>
            </a:fld>
            <a:endParaRPr lang="LID4096"/>
          </a:p>
        </p:txBody>
      </p:sp>
      <p:pic>
        <p:nvPicPr>
          <p:cNvPr id="9" name="Picture 8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7CCF5E5B-78F2-5787-8B30-ABBD2AC6FA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6313" y="318938"/>
            <a:ext cx="4234543" cy="1643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020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509523" y="5445224"/>
            <a:ext cx="920463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https://gjbex.github.io/Python-on-GPUs/</a:t>
            </a:r>
            <a:r>
              <a:rPr lang="en-US" sz="4000" dirty="0"/>
              <a:t> </a:t>
            </a:r>
          </a:p>
        </p:txBody>
      </p:sp>
      <p:pic>
        <p:nvPicPr>
          <p:cNvPr id="3" name="Picture 2" descr="A qr code with a dinosaur&#10;&#10;AI-generated content may be incorrect.">
            <a:extLst>
              <a:ext uri="{FF2B5EF4-FFF2-40B4-BE49-F238E27FC236}">
                <a16:creationId xmlns:a16="http://schemas.microsoft.com/office/drawing/2014/main" id="{FBC866DE-5B09-981F-D91D-CC7E68853B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2875" y="1285875"/>
            <a:ext cx="428625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11108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73A4FCC5-DC3D-4500-9780-EECF84D9A9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570AEBC-58DC-06FC-AE67-813A2E7C9C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3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48850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A209D72-2E9D-49B0-8977-41DCCC66C0BB}" type="slidenum">
              <a:rPr kumimoji="0" lang="nl-BE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nl-BE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#!/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usr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/bin/</a:t>
            </a: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env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python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if __name__ == '__main__':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case dim temp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1 1 -0.5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2 1 0.0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3 1 0.5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4 2 -0.5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ourier New" pitchFamily="49" charset="0"/>
                <a:ea typeface="+mn-ea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603014" cy="2926615"/>
            <a:chOff x="1321249" y="3584213"/>
            <a:chExt cx="3603014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216359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fragment</a:t>
              </a:r>
              <a:b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</a:b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not shown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nl-BE" sz="18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4642860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 II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Shell commands are rendered as</a:t>
            </a:r>
          </a:p>
          <a:p>
            <a:endParaRPr lang="en-US" dirty="0"/>
          </a:p>
          <a:p>
            <a:pPr lvl="1"/>
            <a:r>
              <a:rPr lang="en-US" dirty="0"/>
              <a:t>Do </a:t>
            </a:r>
            <a:r>
              <a:rPr lang="en-US" i="1" dirty="0"/>
              <a:t>not</a:t>
            </a:r>
            <a:r>
              <a:rPr lang="en-US" dirty="0"/>
              <a:t> type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$</a:t>
            </a:r>
            <a:r>
              <a:rPr lang="en-US" dirty="0"/>
              <a:t>, it represents your shell prompt!</a:t>
            </a:r>
          </a:p>
          <a:p>
            <a:endParaRPr lang="en-US" dirty="0"/>
          </a:p>
          <a:p>
            <a:r>
              <a:rPr lang="en-US" dirty="0"/>
              <a:t>Good practice:</a:t>
            </a:r>
          </a:p>
          <a:p>
            <a:r>
              <a:rPr lang="en-US" dirty="0"/>
              <a:t>Bad practice:</a:t>
            </a:r>
          </a:p>
          <a:p>
            <a:r>
              <a:rPr lang="en-US" dirty="0"/>
              <a:t>(Potential) hazards/bugs:</a:t>
            </a:r>
          </a:p>
          <a:p>
            <a:r>
              <a:rPr lang="en-US" dirty="0"/>
              <a:t>Performance issue:</a:t>
            </a:r>
          </a:p>
          <a:p>
            <a:r>
              <a:rPr lang="en-US" dirty="0"/>
              <a:t>Warning: 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2855641" y="2321241"/>
            <a:ext cx="5423280" cy="36933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$  python  –m </a:t>
            </a:r>
            <a:r>
              <a:rPr lang="en-US" b="1" dirty="0" err="1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doctest</a:t>
            </a:r>
            <a:r>
              <a:rPr lang="en-US" b="1" dirty="0">
                <a:solidFill>
                  <a:schemeClr val="bg1"/>
                </a:solidFill>
                <a:latin typeface="Courier New" pitchFamily="49" charset="0"/>
                <a:cs typeface="Courier New" pitchFamily="49" charset="0"/>
              </a:rPr>
              <a:t>  data_parsing.py</a:t>
            </a:r>
            <a:endParaRPr lang="nl-BE" b="1" dirty="0">
              <a:solidFill>
                <a:schemeClr val="bg1"/>
              </a:solidFill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B52A05A-A776-4391-ACD7-D6BC34D3145C}" type="slidenum">
              <a:rPr lang="nl-BE" smtClean="0"/>
              <a:t>5</a:t>
            </a:fld>
            <a:endParaRPr lang="nl-BE"/>
          </a:p>
        </p:txBody>
      </p:sp>
      <p:pic>
        <p:nvPicPr>
          <p:cNvPr id="6" name="Picture 2" descr="C:\Users\lucg5005\AppData\Local\Microsoft\Windows\Temporary Internet Files\Content.IE5\CWZUAEH4\lgi01a201309290600[1].jpg">
            <a:extLst>
              <a:ext uri="{FF2B5EF4-FFF2-40B4-BE49-F238E27FC236}">
                <a16:creationId xmlns:a16="http://schemas.microsoft.com/office/drawing/2014/main" id="{F0B1C861-027C-AE93-1BCB-962F1DBAB0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41480" y="4393364"/>
            <a:ext cx="566151" cy="5809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3" descr="C:\Users\lucg5005\AppData\Local\Microsoft\Windows\Temporary Internet Files\Content.IE5\T8RCCH8G\cute_snail_by_gniyuhs-d4lvbji[1].png">
            <a:extLst>
              <a:ext uri="{FF2B5EF4-FFF2-40B4-BE49-F238E27FC236}">
                <a16:creationId xmlns:a16="http://schemas.microsoft.com/office/drawing/2014/main" id="{9955A620-341D-09A8-65FD-6BB630BAC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919" y="4775923"/>
            <a:ext cx="792088" cy="7920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Graphic 8" descr="Warning with solid fill">
            <a:extLst>
              <a:ext uri="{FF2B5EF4-FFF2-40B4-BE49-F238E27FC236}">
                <a16:creationId xmlns:a16="http://schemas.microsoft.com/office/drawing/2014/main" id="{024A877E-0481-E081-DA6C-323BCC25DA8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684005" y="5294549"/>
            <a:ext cx="648072" cy="648072"/>
          </a:xfrm>
          <a:prstGeom prst="rect">
            <a:avLst/>
          </a:prstGeom>
        </p:spPr>
      </p:pic>
      <p:pic>
        <p:nvPicPr>
          <p:cNvPr id="11" name="Graphic 10" descr="Thumbs up sign with solid fill">
            <a:extLst>
              <a:ext uri="{FF2B5EF4-FFF2-40B4-BE49-F238E27FC236}">
                <a16:creationId xmlns:a16="http://schemas.microsoft.com/office/drawing/2014/main" id="{CE1CDE01-821E-6748-0DC3-4FDB15D603A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558218" y="3307140"/>
            <a:ext cx="724200" cy="724200"/>
          </a:xfrm>
          <a:prstGeom prst="rect">
            <a:avLst/>
          </a:prstGeom>
        </p:spPr>
      </p:pic>
      <p:pic>
        <p:nvPicPr>
          <p:cNvPr id="13" name="Graphic 12" descr="Thumbs Down with solid fill">
            <a:extLst>
              <a:ext uri="{FF2B5EF4-FFF2-40B4-BE49-F238E27FC236}">
                <a16:creationId xmlns:a16="http://schemas.microsoft.com/office/drawing/2014/main" id="{0BE55C85-E7E5-B333-4889-9C023DF91895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3558218" y="3959617"/>
            <a:ext cx="724201" cy="7242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7093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239CD-4A90-8A38-5C6B-8C62A9EC5F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do GPUs look like?</a:t>
            </a:r>
            <a:endParaRPr lang="LID4096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5B60C2-C9B7-C579-121D-ED18F0109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LID4096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AE949-B6B6-179D-598F-375BC8846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6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4610914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FC7A5A-BB00-A8FA-A189-C6B736277D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EAACE9-CA0E-5422-7CB4-1CE3A154D32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Compute node has</a:t>
            </a:r>
          </a:p>
          <a:p>
            <a:pPr lvl="1"/>
            <a:r>
              <a:rPr lang="en-US" dirty="0"/>
              <a:t>1 or more CPUs</a:t>
            </a:r>
          </a:p>
          <a:p>
            <a:pPr lvl="1"/>
            <a:r>
              <a:rPr lang="en-US" dirty="0"/>
              <a:t>Volatile memory: RAM</a:t>
            </a:r>
          </a:p>
          <a:p>
            <a:pPr lvl="1"/>
            <a:r>
              <a:rPr lang="en-US" dirty="0"/>
              <a:t>PCIe bus with</a:t>
            </a:r>
          </a:p>
          <a:p>
            <a:pPr lvl="2"/>
            <a:r>
              <a:rPr lang="en-US" dirty="0"/>
              <a:t>1 or more GPUs</a:t>
            </a:r>
          </a:p>
          <a:p>
            <a:pPr lvl="2"/>
            <a:endParaRPr lang="en-US" dirty="0"/>
          </a:p>
          <a:p>
            <a:r>
              <a:rPr lang="en-US" dirty="0"/>
              <a:t>Application</a:t>
            </a:r>
          </a:p>
          <a:p>
            <a:pPr lvl="1"/>
            <a:r>
              <a:rPr lang="en-US" dirty="0"/>
              <a:t>Runs on host</a:t>
            </a:r>
          </a:p>
          <a:p>
            <a:pPr lvl="1"/>
            <a:r>
              <a:rPr lang="en-US" dirty="0"/>
              <a:t>Offloads computations to device(s)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0748A0-5547-95D5-F136-AC3F281F5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7</a:t>
            </a:fld>
            <a:endParaRPr lang="LID4096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D1C384E5-E542-19A8-F5A0-2AB315B80468}"/>
              </a:ext>
            </a:extLst>
          </p:cNvPr>
          <p:cNvGrpSpPr/>
          <p:nvPr/>
        </p:nvGrpSpPr>
        <p:grpSpPr>
          <a:xfrm>
            <a:off x="5649686" y="2383971"/>
            <a:ext cx="1107329" cy="576943"/>
            <a:chOff x="5649686" y="2383971"/>
            <a:chExt cx="1107329" cy="576943"/>
          </a:xfrm>
        </p:grpSpPr>
        <p:sp>
          <p:nvSpPr>
            <p:cNvPr id="5" name="Right Brace 4">
              <a:extLst>
                <a:ext uri="{FF2B5EF4-FFF2-40B4-BE49-F238E27FC236}">
                  <a16:creationId xmlns:a16="http://schemas.microsoft.com/office/drawing/2014/main" id="{B62ADAAC-4B14-C887-97C9-72FE9F4232FE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D526FA8E-A03C-EF77-37A5-DBC5080BEC48}"/>
                </a:ext>
              </a:extLst>
            </p:cNvPr>
            <p:cNvSpPr txBox="1"/>
            <p:nvPr/>
          </p:nvSpPr>
          <p:spPr>
            <a:xfrm>
              <a:off x="6096000" y="2495828"/>
              <a:ext cx="6610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Host</a:t>
              </a:r>
              <a:endParaRPr lang="LID4096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E770EC82-91F8-C1C5-3CDD-0B8E0AF0E62E}"/>
              </a:ext>
            </a:extLst>
          </p:cNvPr>
          <p:cNvGrpSpPr/>
          <p:nvPr/>
        </p:nvGrpSpPr>
        <p:grpSpPr>
          <a:xfrm>
            <a:off x="5715000" y="3429000"/>
            <a:ext cx="1560465" cy="576943"/>
            <a:chOff x="5649686" y="2383971"/>
            <a:chExt cx="1560465" cy="576943"/>
          </a:xfrm>
        </p:grpSpPr>
        <p:sp>
          <p:nvSpPr>
            <p:cNvPr id="9" name="Right Brace 8">
              <a:extLst>
                <a:ext uri="{FF2B5EF4-FFF2-40B4-BE49-F238E27FC236}">
                  <a16:creationId xmlns:a16="http://schemas.microsoft.com/office/drawing/2014/main" id="{C4FBA4E1-010F-3C68-B67A-ED692BD39C5C}"/>
                </a:ext>
              </a:extLst>
            </p:cNvPr>
            <p:cNvSpPr/>
            <p:nvPr/>
          </p:nvSpPr>
          <p:spPr>
            <a:xfrm>
              <a:off x="5649686" y="2383971"/>
              <a:ext cx="217714" cy="576943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A36B339-9E3C-8A11-89DE-E648C30B3E65}"/>
                </a:ext>
              </a:extLst>
            </p:cNvPr>
            <p:cNvSpPr txBox="1"/>
            <p:nvPr/>
          </p:nvSpPr>
          <p:spPr>
            <a:xfrm>
              <a:off x="6096000" y="2495828"/>
              <a:ext cx="111415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Device(s)</a:t>
              </a:r>
              <a:endParaRPr lang="LID4096" dirty="0"/>
            </a:p>
          </p:txBody>
        </p:sp>
      </p:grpSp>
    </p:spTree>
    <p:extLst>
      <p:ext uri="{BB962C8B-B14F-4D97-AF65-F5344CB8AC3E}">
        <p14:creationId xmlns:p14="http://schemas.microsoft.com/office/powerpoint/2010/main" val="25924097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841FB9-B329-65CF-97C6-B02E71CF0B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Host-device model implications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DA86A2-8D93-970A-134B-F521A8891A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Explicit data transfer between host and device</a:t>
            </a:r>
          </a:p>
          <a:p>
            <a:r>
              <a:rPr lang="en-US" dirty="0"/>
              <a:t>Explicit synchronization</a:t>
            </a:r>
          </a:p>
          <a:p>
            <a:pPr lvl="1"/>
            <a:r>
              <a:rPr lang="en-US" dirty="0"/>
              <a:t>Avoid race conditions</a:t>
            </a:r>
          </a:p>
          <a:p>
            <a:r>
              <a:rPr lang="en-US" dirty="0"/>
              <a:t>Interconnect latency/bandwidth</a:t>
            </a:r>
          </a:p>
          <a:p>
            <a:pPr lvl="1"/>
            <a:r>
              <a:rPr lang="en-US" dirty="0"/>
              <a:t>Potential performance bottleneck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44E565-AADA-0294-F7F4-B095F759A5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8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1075566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97DF65-E73C-51D4-828F-4126FF030B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hardware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CEADE9-5DA2-1BCA-27C0-0891E2373E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9</a:t>
            </a:fld>
            <a:endParaRPr lang="LID4096"/>
          </a:p>
        </p:txBody>
      </p:sp>
      <p:pic>
        <p:nvPicPr>
          <p:cNvPr id="1026" name="Picture 2" descr="NVIDIA Grace Hopper™ Superchip">
            <a:extLst>
              <a:ext uri="{FF2B5EF4-FFF2-40B4-BE49-F238E27FC236}">
                <a16:creationId xmlns:a16="http://schemas.microsoft.com/office/drawing/2014/main" id="{179926D8-024A-73C6-7634-226D5FC2E03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43112" y="1624013"/>
            <a:ext cx="8105775" cy="4552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88699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07FD0-C943-411C-6710-2F8B2D12A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Streaming Multiprocessors (SMs)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B4CEF8-DE8E-BDF0-7D6E-2C079FB12E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4 Warp schedulers</a:t>
            </a:r>
          </a:p>
          <a:p>
            <a:r>
              <a:rPr lang="en-US" dirty="0"/>
              <a:t>Simple architecture</a:t>
            </a:r>
          </a:p>
          <a:p>
            <a:pPr lvl="1"/>
            <a:r>
              <a:rPr lang="en-US" dirty="0"/>
              <a:t>No out-of-order execution</a:t>
            </a:r>
          </a:p>
          <a:p>
            <a:pPr lvl="1"/>
            <a:r>
              <a:rPr lang="en-US" dirty="0"/>
              <a:t>No branch prediction</a:t>
            </a:r>
          </a:p>
          <a:p>
            <a:pPr lvl="1"/>
            <a:r>
              <a:rPr lang="en-US" dirty="0"/>
              <a:t>No sophisticated control flow</a:t>
            </a:r>
          </a:p>
          <a:p>
            <a:r>
              <a:rPr lang="en-US" dirty="0"/>
              <a:t>Pipelines for</a:t>
            </a:r>
          </a:p>
          <a:p>
            <a:pPr lvl="1"/>
            <a:r>
              <a:rPr lang="en-US" dirty="0"/>
              <a:t>FP32</a:t>
            </a:r>
          </a:p>
          <a:p>
            <a:pPr lvl="1"/>
            <a:r>
              <a:rPr lang="en-US" dirty="0"/>
              <a:t>FP64</a:t>
            </a:r>
          </a:p>
          <a:p>
            <a:pPr lvl="1"/>
            <a:r>
              <a:rPr lang="en-US" dirty="0"/>
              <a:t>INT</a:t>
            </a:r>
          </a:p>
          <a:p>
            <a:pPr lvl="1"/>
            <a:r>
              <a:rPr lang="en-US" dirty="0"/>
              <a:t>Tensor</a:t>
            </a:r>
          </a:p>
          <a:p>
            <a:pPr lvl="1"/>
            <a:r>
              <a:rPr lang="en-US" dirty="0"/>
              <a:t>LD/ST</a:t>
            </a:r>
          </a:p>
          <a:p>
            <a:r>
              <a:rPr lang="en-BE" dirty="0"/>
              <a:t>65536</a:t>
            </a:r>
            <a:r>
              <a:rPr lang="en-US" dirty="0"/>
              <a:t> 4-byte registers (thread-private)</a:t>
            </a:r>
          </a:p>
          <a:p>
            <a:r>
              <a:rPr lang="en-US" dirty="0"/>
              <a:t>Block shared memory/L1 cache, e.g., A100: 192 kB</a:t>
            </a:r>
          </a:p>
          <a:p>
            <a:r>
              <a:rPr lang="en-US" dirty="0"/>
              <a:t>Const/texture cache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6768A8-BEC1-3A5A-9109-13B5BD0FCC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10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6563D86-2E14-75E2-D09F-662DEB9EBB52}"/>
              </a:ext>
            </a:extLst>
          </p:cNvPr>
          <p:cNvSpPr txBox="1"/>
          <p:nvPr/>
        </p:nvSpPr>
        <p:spPr>
          <a:xfrm>
            <a:off x="5833244" y="1870075"/>
            <a:ext cx="4148956" cy="92333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Warp</a:t>
            </a:r>
          </a:p>
          <a:p>
            <a:pPr algn="ctr"/>
            <a:r>
              <a:rPr lang="en-US" dirty="0"/>
              <a:t>=</a:t>
            </a:r>
          </a:p>
          <a:p>
            <a:pPr algn="ctr"/>
            <a:r>
              <a:rPr lang="en-US" dirty="0"/>
              <a:t>32 threads, all execute same instruction</a:t>
            </a:r>
            <a:endParaRPr lang="LID4096" dirty="0"/>
          </a:p>
        </p:txBody>
      </p:sp>
    </p:spTree>
    <p:extLst>
      <p:ext uri="{BB962C8B-B14F-4D97-AF65-F5344CB8AC3E}">
        <p14:creationId xmlns:p14="http://schemas.microsoft.com/office/powerpoint/2010/main" val="235864247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56C4A-EB85-9CCF-CB7F-9E87F30680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memory hierarchy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C91E15-274D-9184-4897-6E556B5367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B327CF-031E-487F-EA1D-42370EB8D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11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6321738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D2AA9E-31EA-3F47-05AF-BEBF363A1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GPU execution model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18033F-C9D0-0C94-9DEA-B9DD9E5077B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SIMT: </a:t>
            </a:r>
            <a:r>
              <a:rPr lang="en-US" b="1" dirty="0"/>
              <a:t>S</a:t>
            </a:r>
            <a:r>
              <a:rPr lang="en-US" dirty="0"/>
              <a:t>ingle </a:t>
            </a:r>
            <a:r>
              <a:rPr lang="en-US" b="1" dirty="0"/>
              <a:t>I</a:t>
            </a:r>
            <a:r>
              <a:rPr lang="en-US" dirty="0"/>
              <a:t>nstruction, </a:t>
            </a:r>
            <a:r>
              <a:rPr lang="en-US" b="1" dirty="0"/>
              <a:t>M</a:t>
            </a:r>
            <a:r>
              <a:rPr lang="en-US" dirty="0"/>
              <a:t>ultiple </a:t>
            </a:r>
            <a:r>
              <a:rPr lang="en-US" b="1" dirty="0"/>
              <a:t>T</a:t>
            </a:r>
            <a:r>
              <a:rPr lang="en-US" dirty="0"/>
              <a:t>hreads</a:t>
            </a:r>
          </a:p>
          <a:p>
            <a:r>
              <a:rPr lang="en-US" dirty="0"/>
              <a:t>32 threads grouped in warps (NVIDIA)/wavefronts (AMD)</a:t>
            </a:r>
          </a:p>
          <a:p>
            <a:r>
              <a:rPr lang="en-US" dirty="0"/>
              <a:t>Threads in warp execute same instruction on different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335AB-22E1-E8B6-8BDC-22C7F0EEA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12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25264948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D40BB1-FA2D-4DC3-8ADF-79210BEF4E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Branching on GPUs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DC754-16F6-B932-BEBD-9C17F13073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Cheap </a:t>
            </a:r>
            <a:r>
              <a:rPr lang="en-US" b="1" i="1" dirty="0">
                <a:solidFill>
                  <a:srgbClr val="FF0000"/>
                </a:solidFill>
              </a:rPr>
              <a:t>if threads agree</a:t>
            </a:r>
          </a:p>
          <a:p>
            <a:r>
              <a:rPr lang="en-US" dirty="0"/>
              <a:t>Divergence leads to</a:t>
            </a:r>
          </a:p>
          <a:p>
            <a:pPr lvl="1"/>
            <a:r>
              <a:rPr lang="en-US" dirty="0"/>
              <a:t>Masking of inactive threads</a:t>
            </a:r>
          </a:p>
          <a:p>
            <a:pPr lvl="1"/>
            <a:r>
              <a:rPr lang="en-US" dirty="0"/>
              <a:t>Execution of both paths</a:t>
            </a:r>
          </a:p>
          <a:p>
            <a:r>
              <a:rPr lang="en-US" dirty="0"/>
              <a:t>Try to avoid branching</a:t>
            </a:r>
          </a:p>
          <a:p>
            <a:pPr lvl="1"/>
            <a:r>
              <a:rPr lang="en-US" dirty="0"/>
              <a:t>Code structure</a:t>
            </a:r>
          </a:p>
          <a:p>
            <a:pPr lvl="1"/>
            <a:r>
              <a:rPr lang="en-US" dirty="0"/>
              <a:t>Data layout</a:t>
            </a:r>
            <a:endParaRPr lang="LID4096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D3EA32-CC91-FE8B-E3C3-01BD390803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13</a:t>
            </a:fld>
            <a:endParaRPr lang="LID4096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C49E860-E75C-82D4-EEE7-8087C14F720A}"/>
              </a:ext>
            </a:extLst>
          </p:cNvPr>
          <p:cNvSpPr txBox="1"/>
          <p:nvPr/>
        </p:nvSpPr>
        <p:spPr>
          <a:xfrm>
            <a:off x="6096000" y="2905780"/>
            <a:ext cx="333354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ym typeface="Symbol" panose="05050102010706020507" pitchFamily="18" charset="2"/>
              </a:rPr>
              <a:t></a:t>
            </a:r>
            <a:r>
              <a:rPr lang="en-US" sz="2800" dirty="0"/>
              <a:t> performance loss</a:t>
            </a:r>
            <a:endParaRPr lang="LID4096" sz="2800" dirty="0"/>
          </a:p>
        </p:txBody>
      </p:sp>
    </p:spTree>
    <p:extLst>
      <p:ext uri="{BB962C8B-B14F-4D97-AF65-F5344CB8AC3E}">
        <p14:creationId xmlns:p14="http://schemas.microsoft.com/office/powerpoint/2010/main" val="232985125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B6272A-02E9-F2EE-436A-3F4932E13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File fragments and annotations</a:t>
            </a:r>
            <a:endParaRPr lang="LID4096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6DB24A3-C16D-CA53-A6A4-4F7EE1D879CE}"/>
              </a:ext>
            </a:extLst>
          </p:cNvPr>
          <p:cNvGrpSpPr/>
          <p:nvPr/>
        </p:nvGrpSpPr>
        <p:grpSpPr>
          <a:xfrm>
            <a:off x="1415143" y="1997839"/>
            <a:ext cx="8795657" cy="3416320"/>
            <a:chOff x="1055914" y="2169659"/>
            <a:chExt cx="8795657" cy="341632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4751453-B372-41FE-6AD4-8053745813A4}"/>
                </a:ext>
              </a:extLst>
            </p:cNvPr>
            <p:cNvSpPr txBox="1"/>
            <p:nvPr/>
          </p:nvSpPr>
          <p:spPr>
            <a:xfrm>
              <a:off x="1055914" y="2169659"/>
              <a:ext cx="8795657" cy="341632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#!/usr/bin/env -S bash -l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--account=&lt;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your_account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--cluster=&lt;</a:t>
              </a:r>
              <a:r>
                <a:rPr lang="en-US" dirty="0" err="1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your_cluster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&gt;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#SBATCH --time=00:02:00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 first clean up your environment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module purge &amp;&gt; /dev/null</a:t>
              </a:r>
            </a:p>
            <a:p>
              <a:pPr lvl="0">
                <a:defRPr/>
              </a:pP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# load </a:t>
              </a:r>
              <a:r>
                <a:rPr lang="en-US" b="1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only</a:t>
              </a: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 the modules you need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</a:rPr>
                <a:t>module load </a:t>
              </a:r>
              <a:r>
                <a:rPr lang="fr-BE" dirty="0">
                  <a:latin typeface="Courier New" panose="02070309020205020404" pitchFamily="49" charset="0"/>
                  <a:cs typeface="Courier New" panose="02070309020205020404" pitchFamily="49" charset="0"/>
                </a:rPr>
                <a:t>R-bundle-CRAN/2023.12-foss-2023a</a:t>
              </a:r>
            </a:p>
            <a:p>
              <a:pPr lvl="0">
                <a:defRPr/>
              </a:pPr>
              <a:r>
                <a:rPr lang="en-US" dirty="0">
                  <a:solidFill>
                    <a:prstClr val="black"/>
                  </a:solidFill>
                  <a:latin typeface="Courier New" pitchFamily="49" charset="0"/>
                  <a:cs typeface="Courier New" pitchFamily="49" charset="0"/>
                  <a:sym typeface="Symbol" panose="05050102010706020507" pitchFamily="18" charset="2"/>
                </a:rPr>
                <a:t></a:t>
              </a:r>
              <a:endParaRPr lang="en-US" dirty="0">
                <a:solidFill>
                  <a:prstClr val="black"/>
                </a:solidFill>
                <a:latin typeface="Courier New" pitchFamily="49" charset="0"/>
                <a:cs typeface="Courier New" pitchFamily="49" charset="0"/>
              </a:endParaRP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3EA672C9-D16F-6ECC-CD9F-13E1D5E2FD77}"/>
                </a:ext>
              </a:extLst>
            </p:cNvPr>
            <p:cNvSpPr txBox="1"/>
            <p:nvPr/>
          </p:nvSpPr>
          <p:spPr>
            <a:xfrm>
              <a:off x="7815436" y="2169659"/>
              <a:ext cx="2036135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jobscript.slurm</a:t>
              </a:r>
              <a:endParaRPr lang="LID4096" sz="16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9E754873-0153-0D97-958A-06B2E493E517}"/>
              </a:ext>
            </a:extLst>
          </p:cNvPr>
          <p:cNvGrpSpPr/>
          <p:nvPr/>
        </p:nvGrpSpPr>
        <p:grpSpPr>
          <a:xfrm>
            <a:off x="5638800" y="2439565"/>
            <a:ext cx="6553200" cy="1675235"/>
            <a:chOff x="5638800" y="2439565"/>
            <a:chExt cx="6553200" cy="1675235"/>
          </a:xfrm>
        </p:grpSpPr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BF59F79E-E11C-9AF7-FFCE-6CF4E4F7A8DF}"/>
                </a:ext>
              </a:extLst>
            </p:cNvPr>
            <p:cNvGrpSpPr/>
            <p:nvPr/>
          </p:nvGrpSpPr>
          <p:grpSpPr>
            <a:xfrm>
              <a:off x="5638800" y="2979099"/>
              <a:ext cx="6416755" cy="1135701"/>
              <a:chOff x="-450540" y="5535406"/>
              <a:chExt cx="6416755" cy="1135701"/>
            </a:xfrm>
          </p:grpSpPr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D409F96-829B-F0E2-9CA3-638A81E0EDFE}"/>
                  </a:ext>
                </a:extLst>
              </p:cNvPr>
              <p:cNvSpPr txBox="1"/>
              <p:nvPr/>
            </p:nvSpPr>
            <p:spPr>
              <a:xfrm>
                <a:off x="3707904" y="5535406"/>
                <a:ext cx="2258311" cy="369332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pPr marL="0" marR="0" lvl="0" indent="0" algn="l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en-US" sz="1800" b="0" i="0" u="none" strike="noStrike" kern="1200" cap="none" spc="0" normalizeH="0" baseline="0" noProof="0" dirty="0">
                    <a:ln>
                      <a:noFill/>
                    </a:ln>
                    <a:solidFill>
                      <a:prstClr val="black"/>
                    </a:solidFill>
                    <a:effectLst/>
                    <a:uLnTx/>
                    <a:uFillTx/>
                    <a:ea typeface="+mn-ea"/>
                    <a:cs typeface="+mn-cs"/>
                  </a:rPr>
                  <a:t>Reduces side effects</a:t>
                </a:r>
                <a:endParaRPr kumimoji="0" lang="nl-BE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endParaRPr>
              </a:p>
            </p:txBody>
          </p:sp>
          <p:cxnSp>
            <p:nvCxnSpPr>
              <p:cNvPr id="11" name="Straight Arrow Connector 10">
                <a:extLst>
                  <a:ext uri="{FF2B5EF4-FFF2-40B4-BE49-F238E27FC236}">
                    <a16:creationId xmlns:a16="http://schemas.microsoft.com/office/drawing/2014/main" id="{B112BDF1-5478-EDB5-1F1C-048F81465E56}"/>
                  </a:ext>
                </a:extLst>
              </p:cNvPr>
              <p:cNvCxnSpPr>
                <a:cxnSpLocks/>
                <a:stCxn id="10" idx="1"/>
              </p:cNvCxnSpPr>
              <p:nvPr/>
            </p:nvCxnSpPr>
            <p:spPr>
              <a:xfrm flipH="1">
                <a:off x="-450540" y="5720072"/>
                <a:ext cx="4158444" cy="951035"/>
              </a:xfrm>
              <a:prstGeom prst="straightConnector1">
                <a:avLst/>
              </a:prstGeom>
              <a:ln w="28575">
                <a:solidFill>
                  <a:srgbClr val="C00000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pic>
          <p:nvPicPr>
            <p:cNvPr id="9" name="Graphic 8" descr="Thumbs up sign with solid fill">
              <a:extLst>
                <a:ext uri="{FF2B5EF4-FFF2-40B4-BE49-F238E27FC236}">
                  <a16:creationId xmlns:a16="http://schemas.microsoft.com/office/drawing/2014/main" id="{4FAF59EB-21B6-BDAF-B485-6D2BCDA5310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11467800" y="2439565"/>
              <a:ext cx="724200" cy="7242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59AB037-1BEC-2578-88A3-40011B584EE4}"/>
              </a:ext>
            </a:extLst>
          </p:cNvPr>
          <p:cNvGrpSpPr/>
          <p:nvPr/>
        </p:nvGrpSpPr>
        <p:grpSpPr>
          <a:xfrm>
            <a:off x="5638800" y="3693053"/>
            <a:ext cx="6416755" cy="1135701"/>
            <a:chOff x="-450540" y="5535406"/>
            <a:chExt cx="6416755" cy="1135701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C3EDA34-C6EA-CACB-4B57-6632CD8078E2}"/>
                </a:ext>
              </a:extLst>
            </p:cNvPr>
            <p:cNvSpPr txBox="1"/>
            <p:nvPr/>
          </p:nvSpPr>
          <p:spPr>
            <a:xfrm>
              <a:off x="3707904" y="5535406"/>
              <a:ext cx="2258311" cy="36933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0" i="0" u="none" strike="noStrike" kern="1200" cap="none" spc="0" normalizeH="0" baseline="0" noProof="0" dirty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ea typeface="+mn-ea"/>
                  <a:cs typeface="+mn-cs"/>
                </a:rPr>
                <a:t>Reduces side effects</a:t>
              </a:r>
              <a:endParaRPr kumimoji="0" lang="nl-BE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7831DE07-2CFA-646A-1CF4-7EF5832801BD}"/>
                </a:ext>
              </a:extLst>
            </p:cNvPr>
            <p:cNvCxnSpPr>
              <a:cxnSpLocks/>
              <a:stCxn id="15" idx="1"/>
            </p:cNvCxnSpPr>
            <p:nvPr/>
          </p:nvCxnSpPr>
          <p:spPr>
            <a:xfrm flipH="1">
              <a:off x="-450540" y="5720072"/>
              <a:ext cx="4158444" cy="951035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Slide Number Placeholder 16">
            <a:extLst>
              <a:ext uri="{FF2B5EF4-FFF2-40B4-BE49-F238E27FC236}">
                <a16:creationId xmlns:a16="http://schemas.microsoft.com/office/drawing/2014/main" id="{58E15301-CD34-1440-68A4-AA4B333BF2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7CE217-4467-4B8D-A735-B008FA7C4816}" type="slidenum">
              <a:rPr lang="LID4096" smtClean="0"/>
              <a:t>14</a:t>
            </a:fld>
            <a:endParaRPr lang="LID4096"/>
          </a:p>
        </p:txBody>
      </p:sp>
    </p:spTree>
    <p:extLst>
      <p:ext uri="{BB962C8B-B14F-4D97-AF65-F5344CB8AC3E}">
        <p14:creationId xmlns:p14="http://schemas.microsoft.com/office/powerpoint/2010/main" val="6887798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722</TotalTime>
  <Words>461</Words>
  <Application>Microsoft Office PowerPoint</Application>
  <PresentationFormat>Widescreen</PresentationFormat>
  <Paragraphs>115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Courier New</vt:lpstr>
      <vt:lpstr>Symbol</vt:lpstr>
      <vt:lpstr>Office Theme</vt:lpstr>
      <vt:lpstr>Python on GPUs</vt:lpstr>
      <vt:lpstr>PowerPoint Presentation</vt:lpstr>
      <vt:lpstr>PowerPoint Presentation</vt:lpstr>
      <vt:lpstr>Typographical conventions I</vt:lpstr>
      <vt:lpstr>Typographical conventions II</vt:lpstr>
      <vt:lpstr>What do GPUs look like?</vt:lpstr>
      <vt:lpstr>Host-device model</vt:lpstr>
      <vt:lpstr>Host-device model implications</vt:lpstr>
      <vt:lpstr>GPU hardware</vt:lpstr>
      <vt:lpstr>GPU Streaming Multiprocessors (SMs)</vt:lpstr>
      <vt:lpstr>GPU memory hierarchy</vt:lpstr>
      <vt:lpstr>GPU execution model</vt:lpstr>
      <vt:lpstr>Branching on GPUs</vt:lpstr>
      <vt:lpstr>File fragments and annotations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Geert Jan Bex</dc:creator>
  <cp:lastModifiedBy>Geert Jan Bex</cp:lastModifiedBy>
  <cp:revision>4</cp:revision>
  <dcterms:created xsi:type="dcterms:W3CDTF">2025-01-17T10:10:41Z</dcterms:created>
  <dcterms:modified xsi:type="dcterms:W3CDTF">2025-12-16T19:41:52Z</dcterms:modified>
</cp:coreProperties>
</file>